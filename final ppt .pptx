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26F7C2-5B3C-4A63-8FA8-43E366A6B9E1}" v="1" dt="2026-09-14T21:55:42.5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1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hanshu Chaudhary" userId="3dc086ce71f9ed79" providerId="LiveId" clId="{CD181952-0158-4922-B314-7087759F88CE}"/>
    <pc:docChg chg="undo custSel modSld">
      <pc:chgData name="Sudhanshu Chaudhary" userId="3dc086ce71f9ed79" providerId="LiveId" clId="{CD181952-0158-4922-B314-7087759F88CE}" dt="2026-09-14T21:55:37.045" v="1" actId="313"/>
      <pc:docMkLst>
        <pc:docMk/>
      </pc:docMkLst>
      <pc:sldChg chg="modSp mod">
        <pc:chgData name="Sudhanshu Chaudhary" userId="3dc086ce71f9ed79" providerId="LiveId" clId="{CD181952-0158-4922-B314-7087759F88CE}" dt="2026-09-14T21:55:37.045" v="1" actId="313"/>
        <pc:sldMkLst>
          <pc:docMk/>
          <pc:sldMk cId="2292154309" sldId="267"/>
        </pc:sldMkLst>
        <pc:spChg chg="mod">
          <ac:chgData name="Sudhanshu Chaudhary" userId="3dc086ce71f9ed79" providerId="LiveId" clId="{CD181952-0158-4922-B314-7087759F88CE}" dt="2026-09-14T21:55:37.045" v="1" actId="313"/>
          <ac:spMkLst>
            <pc:docMk/>
            <pc:sldMk cId="2292154309" sldId="267"/>
            <ac:spMk id="3" creationId="{99A5E0B8-EAB5-F8C2-35D0-0DC0B110092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77881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3175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2817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37246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282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97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4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540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130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092571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43008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790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541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02941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521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59975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6902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1950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7261497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76524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065643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6826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0481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17389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031099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47252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718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E95E7207-45B8-4C0F-90B0-F9AF727BAF91}" type="datetimeFigureOut">
              <a:rPr lang="en-ID" smtClean="0"/>
              <a:t>15/09/2026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62668A7-A295-450D-A6C5-24DB8B23A5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202503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  <p:sldLayoutId id="2147483820" r:id="rId17"/>
    <p:sldLayoutId id="2147483821" r:id="rId18"/>
    <p:sldLayoutId id="2147483822" r:id="rId19"/>
    <p:sldLayoutId id="2147483823" r:id="rId20"/>
    <p:sldLayoutId id="2147483824" r:id="rId21"/>
    <p:sldLayoutId id="2147483825" r:id="rId22"/>
    <p:sldLayoutId id="2147483826" r:id="rId23"/>
    <p:sldLayoutId id="2147483827" r:id="rId24"/>
    <p:sldLayoutId id="2147483828" r:id="rId25"/>
    <p:sldLayoutId id="2147483829" r:id="rId26"/>
    <p:sldLayoutId id="2147483830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00D4-12A5-B45C-66BF-685EA42C3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545" y="259773"/>
            <a:ext cx="10972799" cy="1536943"/>
          </a:xfrm>
        </p:spPr>
        <p:txBody>
          <a:bodyPr>
            <a:normAutofit fontScale="90000"/>
          </a:bodyPr>
          <a:lstStyle/>
          <a:p>
            <a:r>
              <a:rPr lang="en-IN" sz="4800" dirty="0"/>
              <a:t>Deep Learning Based Driver Drowsiness &amp; Vigilance Detecting System</a:t>
            </a:r>
            <a:endParaRPr lang="en-ID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773AB0-7A0A-921A-F5F5-773B04C63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45" y="2150918"/>
            <a:ext cx="11127023" cy="4447309"/>
          </a:xfrm>
        </p:spPr>
        <p:txBody>
          <a:bodyPr>
            <a:normAutofit lnSpcReduction="10000"/>
          </a:bodyPr>
          <a:lstStyle/>
          <a:p>
            <a:r>
              <a:rPr lang="en-IN" sz="3200" b="1" dirty="0"/>
              <a:t>Under the guidance Of:</a:t>
            </a:r>
          </a:p>
          <a:p>
            <a:r>
              <a:rPr lang="en-IN" sz="3200" dirty="0"/>
              <a:t>Dr. Farida Khursheed</a:t>
            </a:r>
          </a:p>
          <a:p>
            <a:endParaRPr lang="en-IN" sz="3200" dirty="0"/>
          </a:p>
          <a:p>
            <a:endParaRPr lang="en-IN" sz="3200" dirty="0"/>
          </a:p>
          <a:p>
            <a:pPr algn="l"/>
            <a:r>
              <a:rPr lang="en-IN" sz="3200" b="1" dirty="0"/>
              <a:t>Team Members:	                                            </a:t>
            </a:r>
          </a:p>
          <a:p>
            <a:pPr algn="l"/>
            <a:r>
              <a:rPr lang="en-IN" dirty="0"/>
              <a:t>Sudhanshu Chaudhary : 2023BECE039</a:t>
            </a:r>
          </a:p>
          <a:p>
            <a:pPr algn="l"/>
            <a:r>
              <a:rPr lang="en-IN" dirty="0"/>
              <a:t>Ishika Sahu : 2023BECE035</a:t>
            </a:r>
          </a:p>
          <a:p>
            <a:pPr algn="l"/>
            <a:r>
              <a:rPr lang="en-IN" dirty="0"/>
              <a:t>Nishant: 2023BECE097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32884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9BCAA-8F7D-0C40-99E9-7AC74E23E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35082"/>
            <a:ext cx="9942409" cy="768927"/>
          </a:xfrm>
        </p:spPr>
        <p:txBody>
          <a:bodyPr/>
          <a:lstStyle/>
          <a:p>
            <a:r>
              <a:rPr lang="en-IN" dirty="0"/>
              <a:t>Table Of Contents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C7EA1-E05B-51A1-1987-8D05ED575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545" y="904009"/>
            <a:ext cx="9852281" cy="5534891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400" b="1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D" sz="2400" b="1" dirty="0"/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ID" sz="2400" b="1" dirty="0"/>
              <a:t>Objective </a:t>
            </a:r>
          </a:p>
          <a:p>
            <a:pPr marL="514350" indent="-514350">
              <a:buFont typeface="+mj-lt"/>
              <a:buAutoNum type="arabicPeriod"/>
            </a:pPr>
            <a:r>
              <a:rPr lang="en-ID" sz="2400" b="1" dirty="0"/>
              <a:t>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ID" sz="2400" b="1" dirty="0"/>
              <a:t>Initial Research Direction</a:t>
            </a:r>
          </a:p>
          <a:p>
            <a:pPr marL="514350" indent="-514350">
              <a:buFont typeface="+mj-lt"/>
              <a:buAutoNum type="arabicPeriod"/>
            </a:pPr>
            <a:r>
              <a:rPr lang="en-ID" sz="2400" b="1" dirty="0"/>
              <a:t>Work done EAR Calculation</a:t>
            </a:r>
          </a:p>
          <a:p>
            <a:pPr marL="514350" indent="-514350">
              <a:buFont typeface="+mj-lt"/>
              <a:buAutoNum type="arabicPeriod"/>
            </a:pPr>
            <a:r>
              <a:rPr lang="en-ID" sz="2400" b="1" dirty="0"/>
              <a:t>Observe EAR Behaviour</a:t>
            </a:r>
          </a:p>
          <a:p>
            <a:pPr marL="514350" indent="-514350">
              <a:buFont typeface="+mj-lt"/>
              <a:buAutoNum type="arabicPeriod"/>
            </a:pPr>
            <a:r>
              <a:rPr lang="en-ID" sz="2400" b="1" dirty="0"/>
              <a:t>Proposed Model</a:t>
            </a:r>
          </a:p>
          <a:p>
            <a:pPr marL="514350" indent="-514350">
              <a:buFont typeface="+mj-lt"/>
              <a:buAutoNum type="arabicPeriod"/>
            </a:pPr>
            <a:r>
              <a:rPr lang="en-ID" sz="2400" b="1" dirty="0"/>
              <a:t>Applications</a:t>
            </a:r>
          </a:p>
          <a:p>
            <a:pPr marL="514350" indent="-514350">
              <a:buFont typeface="+mj-lt"/>
              <a:buAutoNum type="arabicPeriod"/>
            </a:pPr>
            <a:r>
              <a:rPr lang="en-ID" sz="2400" b="1" dirty="0"/>
              <a:t>Reference</a:t>
            </a:r>
          </a:p>
          <a:p>
            <a:pPr marL="514350" indent="-514350">
              <a:buFont typeface="+mj-lt"/>
              <a:buAutoNum type="arabicPeriod"/>
            </a:pPr>
            <a:endParaRPr lang="en-ID" dirty="0"/>
          </a:p>
          <a:p>
            <a:pPr marL="514350" indent="-514350">
              <a:buFont typeface="+mj-lt"/>
              <a:buAutoNum type="arabicPeriod"/>
            </a:pPr>
            <a:endParaRPr lang="en-ID" dirty="0"/>
          </a:p>
          <a:p>
            <a:pPr marL="514350" indent="-514350">
              <a:buFont typeface="+mj-lt"/>
              <a:buAutoNum type="arabicPeriod"/>
            </a:pPr>
            <a:endParaRPr lang="en-ID" dirty="0"/>
          </a:p>
          <a:p>
            <a:pPr marL="514350" indent="-514350">
              <a:buFont typeface="+mj-lt"/>
              <a:buAutoNum type="arabicPeriod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40227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548D2-FC65-8240-77C5-C8FCE8977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208548"/>
            <a:ext cx="11514535" cy="1781156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chemeClr val="bg1"/>
                </a:solidFill>
              </a:rPr>
              <a:t>Introduction</a:t>
            </a:r>
            <a:endParaRPr lang="en-ID" sz="54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257E9-3F4A-FECF-13A9-04FCC561F3D3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383699" y="5683827"/>
            <a:ext cx="45719" cy="51955"/>
          </a:xfrm>
        </p:spPr>
        <p:txBody>
          <a:bodyPr>
            <a:normAutofit fontScale="25000" lnSpcReduction="20000"/>
          </a:bodyPr>
          <a:lstStyle/>
          <a:p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4FAC63-6ED5-146A-872C-B66850C3C4F5}"/>
              </a:ext>
            </a:extLst>
          </p:cNvPr>
          <p:cNvSpPr txBox="1"/>
          <p:nvPr/>
        </p:nvSpPr>
        <p:spPr>
          <a:xfrm>
            <a:off x="4675144" y="2133600"/>
            <a:ext cx="3668756" cy="3724096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>
                <a:solidFill>
                  <a:srgbClr val="FF0000"/>
                </a:solidFill>
              </a:rPr>
              <a:t>DRIVER DROWSINESS</a:t>
            </a:r>
          </a:p>
          <a:p>
            <a:endParaRPr lang="en-IN" dirty="0"/>
          </a:p>
          <a:p>
            <a:r>
              <a:rPr lang="en-US" sz="2800" dirty="0">
                <a:solidFill>
                  <a:schemeClr val="bg1">
                    <a:lumMod val="10000"/>
                    <a:lumOff val="90000"/>
                  </a:schemeClr>
                </a:solidFill>
                <a:latin typeface="Aptos"/>
              </a:rPr>
              <a:t>Drowsiness reduces attention and reaction capability, creating a major road-safety concern.</a:t>
            </a:r>
          </a:p>
          <a:p>
            <a:endParaRPr lang="en-IN" dirty="0"/>
          </a:p>
          <a:p>
            <a:endParaRPr lang="en-IN" dirty="0"/>
          </a:p>
          <a:p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C77293-BD32-E284-8BD3-328BB108BDD9}"/>
              </a:ext>
            </a:extLst>
          </p:cNvPr>
          <p:cNvSpPr txBox="1"/>
          <p:nvPr/>
        </p:nvSpPr>
        <p:spPr>
          <a:xfrm>
            <a:off x="249382" y="2133600"/>
            <a:ext cx="4291445" cy="381642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D" sz="2800" b="1" u="sng" dirty="0">
                <a:solidFill>
                  <a:srgbClr val="3D2B77"/>
                </a:solidFill>
                <a:latin typeface="Aptos"/>
              </a:rPr>
              <a:t>VISUAL BEHAVIOUR</a:t>
            </a:r>
          </a:p>
          <a:p>
            <a:endParaRPr lang="en-ID" sz="2800" b="1" u="sng" dirty="0">
              <a:solidFill>
                <a:schemeClr val="bg1">
                  <a:lumMod val="10000"/>
                  <a:lumOff val="90000"/>
                </a:schemeClr>
              </a:solidFill>
              <a:latin typeface="Aptos"/>
            </a:endParaRPr>
          </a:p>
          <a:p>
            <a:r>
              <a:rPr lang="en-US" sz="2800" dirty="0">
                <a:solidFill>
                  <a:schemeClr val="bg1">
                    <a:lumMod val="10000"/>
                    <a:lumOff val="90000"/>
                  </a:schemeClr>
                </a:solidFill>
                <a:latin typeface="Aptos"/>
              </a:rPr>
              <a:t>Signs of reduced vigilance can appear through eye closure, yawning, head movement and facial changes.</a:t>
            </a:r>
          </a:p>
          <a:p>
            <a:endParaRPr lang="en-ID" sz="2800" b="1" u="sng" dirty="0">
              <a:solidFill>
                <a:srgbClr val="3D2B77"/>
              </a:solidFill>
              <a:latin typeface="Aptos"/>
            </a:endParaRPr>
          </a:p>
          <a:p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C6E8D0-4DBF-899B-49E9-C301DE2E2183}"/>
              </a:ext>
            </a:extLst>
          </p:cNvPr>
          <p:cNvSpPr txBox="1"/>
          <p:nvPr/>
        </p:nvSpPr>
        <p:spPr>
          <a:xfrm>
            <a:off x="8489373" y="2133600"/>
            <a:ext cx="3453245" cy="3108543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D" sz="2800" b="1" u="sng" dirty="0">
                <a:solidFill>
                  <a:srgbClr val="3D2B77"/>
                </a:solidFill>
                <a:latin typeface="Aptos"/>
              </a:rPr>
              <a:t>OUR APPROACH</a:t>
            </a:r>
          </a:p>
          <a:p>
            <a:r>
              <a:rPr lang="en-US" sz="2800" dirty="0">
                <a:solidFill>
                  <a:schemeClr val="bg1">
                    <a:lumMod val="10000"/>
                    <a:lumOff val="90000"/>
                  </a:schemeClr>
                </a:solidFill>
                <a:latin typeface="Aptos"/>
              </a:rPr>
              <a:t>Use video and deep learning to learn relevant visual patterns automatically.</a:t>
            </a:r>
          </a:p>
          <a:p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824353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7FA18-8733-6DB3-354E-3B246E1AC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1955"/>
            <a:ext cx="11845637" cy="1080654"/>
          </a:xfrm>
        </p:spPr>
        <p:txBody>
          <a:bodyPr>
            <a:normAutofit/>
          </a:bodyPr>
          <a:lstStyle/>
          <a:p>
            <a:r>
              <a:rPr lang="en-IN" sz="5400" b="1" dirty="0"/>
              <a:t>Problem statement </a:t>
            </a:r>
            <a:endParaRPr lang="en-ID" sz="5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24BE4-4CDB-8024-B07D-D2F2F674D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68790" y="6068291"/>
            <a:ext cx="57343" cy="143146"/>
          </a:xfrm>
        </p:spPr>
        <p:txBody>
          <a:bodyPr>
            <a:normAutofit fontScale="25000" lnSpcReduction="20000"/>
          </a:bodyPr>
          <a:lstStyle/>
          <a:p>
            <a:endParaRPr lang="en-ID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5461E3A-E63C-CF11-2D95-0BF89DB2C97F}"/>
              </a:ext>
            </a:extLst>
          </p:cNvPr>
          <p:cNvSpPr/>
          <p:nvPr/>
        </p:nvSpPr>
        <p:spPr>
          <a:xfrm>
            <a:off x="1091047" y="1859972"/>
            <a:ext cx="8541326" cy="332509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objective is to develop and evaluate an automated system capable of interpreting a driver's </a:t>
            </a:r>
            <a:r>
              <a:rPr lang="en-US"/>
              <a:t>facial </a:t>
            </a:r>
            <a:r>
              <a:rPr lang="en-US" dirty="0" err="1"/>
              <a:t>behaviour</a:t>
            </a:r>
            <a:r>
              <a:rPr lang="en-US" dirty="0"/>
              <a:t> from video and determining whether the driver is Alert, at Low Vigilance or Drowsy. The system should use a camera/video stream as its primary input and should not require physical sensors attached to the driver.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66421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CDA31-2312-B6B4-72AD-C4CB13A6E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66256"/>
            <a:ext cx="11466409" cy="789708"/>
          </a:xfrm>
        </p:spPr>
        <p:txBody>
          <a:bodyPr>
            <a:noAutofit/>
          </a:bodyPr>
          <a:lstStyle/>
          <a:p>
            <a:r>
              <a:rPr lang="en-IN" sz="5400" b="1" dirty="0"/>
              <a:t>OBJECTIVE</a:t>
            </a:r>
            <a:endParaRPr lang="en-ID" sz="5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3BC0BF-3665-86FC-7589-B06604FB4060}"/>
              </a:ext>
            </a:extLst>
          </p:cNvPr>
          <p:cNvSpPr txBox="1"/>
          <p:nvPr/>
        </p:nvSpPr>
        <p:spPr>
          <a:xfrm>
            <a:off x="592282" y="1569026"/>
            <a:ext cx="1102475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Develop a non-contact video-based driver-state monitoring system.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Automatically learn relevant facial and behavioral patterns from video frames.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Classify the driver as Alert, Low Vigilance or Drowsy.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Capture temporal behavior rather than relying only on single-frame decisions.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Reduce dependence on manually engineered features such as EAR-only rules.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Evaluate generalization on completely unseen participants.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Create a foundation that can later be converted into a real-time monitoring system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ID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830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DAF4C-20C3-05B3-C410-E4B9178BD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80" y="197428"/>
            <a:ext cx="11331747" cy="1641764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/>
            </a:br>
            <a:r>
              <a:rPr lang="en-IN" b="1" dirty="0"/>
              <a:t>Data Set</a:t>
            </a:r>
            <a:br>
              <a:rPr lang="en-IN" dirty="0"/>
            </a:b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27371A-2695-5105-0207-92525E8B7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78" y="2473036"/>
            <a:ext cx="10708293" cy="654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BEC756-DEB9-E989-1810-D8EF936D4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77" y="3231572"/>
            <a:ext cx="10708293" cy="34289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E4A357-E116-7804-BC1A-26D1FF4FFCB9}"/>
              </a:ext>
            </a:extLst>
          </p:cNvPr>
          <p:cNvSpPr txBox="1"/>
          <p:nvPr/>
        </p:nvSpPr>
        <p:spPr>
          <a:xfrm>
            <a:off x="450273" y="1475509"/>
            <a:ext cx="1112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400" b="1" dirty="0"/>
              <a:t>UTA Real-Life Drowsiness Dataset (UTA-RLDD), University of Texas at Arlington. </a:t>
            </a:r>
          </a:p>
        </p:txBody>
      </p:sp>
    </p:spTree>
    <p:extLst>
      <p:ext uri="{BB962C8B-B14F-4D97-AF65-F5344CB8AC3E}">
        <p14:creationId xmlns:p14="http://schemas.microsoft.com/office/powerpoint/2010/main" val="1606511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0E47-A041-337E-7643-A89FDF1BA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1876808" cy="633844"/>
          </a:xfrm>
        </p:spPr>
        <p:txBody>
          <a:bodyPr>
            <a:noAutofit/>
          </a:bodyPr>
          <a:lstStyle/>
          <a:p>
            <a:r>
              <a:rPr lang="en-IN" sz="4400" b="1" i="1" dirty="0"/>
              <a:t>Initial research direction</a:t>
            </a:r>
            <a:endParaRPr lang="en-ID" sz="4400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13ED49-354B-B046-EB10-15D6FF3A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27" y="3429001"/>
            <a:ext cx="4655128" cy="1257300"/>
          </a:xfrm>
        </p:spPr>
        <p:txBody>
          <a:bodyPr>
            <a:normAutofit/>
          </a:bodyPr>
          <a:lstStyle/>
          <a:p>
            <a:r>
              <a:rPr lang="en-IN" sz="3600" b="1" dirty="0"/>
              <a:t>Formula Used </a:t>
            </a:r>
            <a:endParaRPr lang="en-ID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AF1384-DA70-264C-593C-0D79BE5EC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5" y="860280"/>
            <a:ext cx="10879281" cy="2019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31E6DF-AFAB-8BE8-8BB4-E18846B79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6" y="4896716"/>
            <a:ext cx="9476509" cy="19119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957080-067A-2F08-213B-56746A642D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127" y="3353666"/>
            <a:ext cx="63246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55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25E30-832B-ACAA-F135-096AB5359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80" y="5611091"/>
            <a:ext cx="11622693" cy="1246910"/>
          </a:xfrm>
        </p:spPr>
        <p:txBody>
          <a:bodyPr>
            <a:normAutofit/>
          </a:bodyPr>
          <a:lstStyle/>
          <a:p>
            <a:r>
              <a:rPr lang="en-IN" sz="5400" b="1" dirty="0"/>
              <a:t>Work done And EAR Calculation</a:t>
            </a:r>
            <a:endParaRPr lang="en-ID" sz="5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15A675-F381-5244-A58C-F8E5AA9F7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98" y="158918"/>
            <a:ext cx="2908569" cy="23709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DC9551-BC90-0F6E-462D-EA91886CB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99" y="2709640"/>
            <a:ext cx="2908569" cy="27217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88271A-E4B9-F326-6314-DAF198900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6" y="530131"/>
            <a:ext cx="6200774" cy="508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84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85009-B09E-DCF3-BCDB-F5534A3AE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1876808" cy="820881"/>
          </a:xfrm>
        </p:spPr>
        <p:txBody>
          <a:bodyPr>
            <a:normAutofit fontScale="90000"/>
          </a:bodyPr>
          <a:lstStyle/>
          <a:p>
            <a:r>
              <a:rPr lang="en-ID" sz="5400" b="1" u="sng" dirty="0">
                <a:solidFill>
                  <a:schemeClr val="bg1">
                    <a:lumMod val="10000"/>
                    <a:lumOff val="90000"/>
                  </a:schemeClr>
                </a:solidFill>
                <a:latin typeface="Aptos"/>
              </a:rPr>
              <a:t>Observed EAR Behaviour</a:t>
            </a:r>
            <a:br>
              <a:rPr lang="en-ID" sz="4800" b="1" dirty="0">
                <a:solidFill>
                  <a:srgbClr val="3D2B77"/>
                </a:solidFill>
                <a:latin typeface="Aptos"/>
              </a:rPr>
            </a:b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4E400D-228A-FDF7-DE3A-FF317CC46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909" y="820883"/>
            <a:ext cx="9852169" cy="685799"/>
          </a:xfrm>
        </p:spPr>
        <p:txBody>
          <a:bodyPr/>
          <a:lstStyle/>
          <a:p>
            <a:r>
              <a:rPr lang="en-US" sz="28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Aptos"/>
              </a:rPr>
              <a:t>EAR values plotted across video frames</a:t>
            </a:r>
          </a:p>
          <a:p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B7E0F2-6D99-FF25-FDA1-ABFC6BFCB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9" y="1389927"/>
            <a:ext cx="11772900" cy="37076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B74F3C-83DC-728E-F402-DF7F7355750E}"/>
              </a:ext>
            </a:extLst>
          </p:cNvPr>
          <p:cNvSpPr txBox="1"/>
          <p:nvPr/>
        </p:nvSpPr>
        <p:spPr>
          <a:xfrm>
            <a:off x="103909" y="5237018"/>
            <a:ext cx="94557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  <a:lumOff val="90000"/>
                  </a:schemeClr>
                </a:solidFill>
                <a:latin typeface="Aptos"/>
              </a:rPr>
              <a:t>The plots show that eye </a:t>
            </a:r>
            <a:r>
              <a:rPr lang="en-US" sz="24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Aptos"/>
              </a:rPr>
              <a:t>behaviour</a:t>
            </a:r>
            <a:r>
              <a:rPr lang="en-US" sz="2400" dirty="0">
                <a:solidFill>
                  <a:schemeClr val="bg1">
                    <a:lumMod val="10000"/>
                    <a:lumOff val="90000"/>
                  </a:schemeClr>
                </a:solidFill>
                <a:latin typeface="Aptos"/>
              </a:rPr>
              <a:t> changes over time, but the signal is not perfectly clean or sufficient by itself to describe the complete driver state.</a:t>
            </a:r>
          </a:p>
        </p:txBody>
      </p:sp>
    </p:spTree>
    <p:extLst>
      <p:ext uri="{BB962C8B-B14F-4D97-AF65-F5344CB8AC3E}">
        <p14:creationId xmlns:p14="http://schemas.microsoft.com/office/powerpoint/2010/main" val="3622160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B8E74-F338-7AA1-42AE-89AA08947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1"/>
            <a:ext cx="11362499" cy="1350818"/>
          </a:xfrm>
        </p:spPr>
        <p:txBody>
          <a:bodyPr/>
          <a:lstStyle/>
          <a:p>
            <a:r>
              <a:rPr lang="en-US" sz="48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Aptos"/>
              </a:rPr>
              <a:t>Proposed Model </a:t>
            </a:r>
            <a:br>
              <a:rPr lang="en-US" sz="4800" b="1" dirty="0">
                <a:solidFill>
                  <a:srgbClr val="3D2B77"/>
                </a:solidFill>
                <a:latin typeface="Aptos"/>
              </a:rPr>
            </a:b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AFA9C-F2CC-62E8-360B-CD83B26A11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9071263" y="2102921"/>
            <a:ext cx="1466705" cy="45719"/>
          </a:xfrm>
        </p:spPr>
        <p:txBody>
          <a:bodyPr>
            <a:normAutofit fontScale="25000" lnSpcReduction="20000"/>
          </a:bodyPr>
          <a:lstStyle/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BFF471-6C06-BB1E-6E75-F301C45E9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10" y="1558636"/>
            <a:ext cx="11067460" cy="51019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9C62C3-2443-8A1C-99DA-3D5A34997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591" y="2402176"/>
            <a:ext cx="1381991" cy="413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211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66CB4-7CCD-5E40-F287-988887622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" y="93519"/>
            <a:ext cx="10981559" cy="883226"/>
          </a:xfrm>
        </p:spPr>
        <p:txBody>
          <a:bodyPr/>
          <a:lstStyle/>
          <a:p>
            <a:r>
              <a:rPr lang="en-IN" dirty="0"/>
              <a:t>Application 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6E820-346E-5A99-AD32-E2F421519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" y="1849582"/>
            <a:ext cx="10011834" cy="4361855"/>
          </a:xfrm>
        </p:spPr>
        <p:txBody>
          <a:bodyPr>
            <a:normAutofit fontScale="92500" lnSpcReduction="20000"/>
          </a:bodyPr>
          <a:lstStyle/>
          <a:p>
            <a:r>
              <a:rPr lang="en-US" sz="1700" b="1" dirty="0">
                <a:solidFill>
                  <a:schemeClr val="accent2">
                    <a:lumMod val="50000"/>
                  </a:schemeClr>
                </a:solidFill>
              </a:rPr>
              <a:t>1. Driver Safety &amp; Accident </a:t>
            </a:r>
          </a:p>
          <a:p>
            <a:r>
              <a:rPr lang="en-US" dirty="0"/>
              <a:t>Prevention Detects signs of reduced vigilance and can warn the driver before the situation becomes dangerous.</a:t>
            </a:r>
          </a:p>
          <a:p>
            <a:r>
              <a:rPr lang="en-US" sz="1700" b="1" dirty="0">
                <a:solidFill>
                  <a:schemeClr val="accent2">
                    <a:lumMod val="50000"/>
                  </a:schemeClr>
                </a:solidFill>
              </a:rPr>
              <a:t>2. Real-Time Driver Monitoring</a:t>
            </a:r>
          </a:p>
          <a:p>
            <a:r>
              <a:rPr lang="en-US" dirty="0"/>
              <a:t>Can be integrated with an in-car camera to continuously monitor the driver's visual </a:t>
            </a:r>
            <a:r>
              <a:rPr lang="en-US" dirty="0" err="1"/>
              <a:t>behaviour</a:t>
            </a:r>
            <a:r>
              <a:rPr lang="en-US" dirty="0"/>
              <a:t>.</a:t>
            </a:r>
          </a:p>
          <a:p>
            <a:r>
              <a:rPr lang="en-US" sz="1700" b="1" dirty="0">
                <a:solidFill>
                  <a:schemeClr val="accent2">
                    <a:lumMod val="50000"/>
                  </a:schemeClr>
                </a:solidFill>
              </a:rPr>
              <a:t>3. Fleet &amp; Commercial Vehicles</a:t>
            </a:r>
          </a:p>
          <a:p>
            <a:r>
              <a:rPr lang="en-US" dirty="0"/>
              <a:t>Useful for monitoring drivers of buses, trucks, taxis and delivery vehicles, where long driving hours can increase fatigue.</a:t>
            </a:r>
          </a:p>
          <a:p>
            <a:r>
              <a:rPr lang="en-US" sz="1700" b="1" dirty="0">
                <a:solidFill>
                  <a:schemeClr val="accent2">
                    <a:lumMod val="50000"/>
                  </a:schemeClr>
                </a:solidFill>
              </a:rPr>
              <a:t>4. Driver Alert / Warning System</a:t>
            </a:r>
          </a:p>
          <a:p>
            <a:r>
              <a:rPr lang="en-US" dirty="0"/>
              <a:t>The predicted state can trigger an alarm, buzzer or visual warning when drowsiness is detected.</a:t>
            </a:r>
          </a:p>
          <a:p>
            <a:r>
              <a:rPr lang="en-US" sz="1700" b="1" dirty="0">
                <a:solidFill>
                  <a:schemeClr val="accent2">
                    <a:lumMod val="50000"/>
                  </a:schemeClr>
                </a:solidFill>
              </a:rPr>
              <a:t>5. Advanced Driver Assistance Systems (ADAS)</a:t>
            </a:r>
          </a:p>
          <a:p>
            <a:r>
              <a:rPr lang="en-US" dirty="0"/>
              <a:t>Can act as one component of a larger vehicle safety system alongside other driver-monitoring functions.</a:t>
            </a:r>
          </a:p>
          <a:p>
            <a:r>
              <a:rPr lang="en-US" sz="1700" b="1" dirty="0">
                <a:solidFill>
                  <a:schemeClr val="accent2">
                    <a:lumMod val="50000"/>
                  </a:schemeClr>
                </a:solidFill>
              </a:rPr>
              <a:t>6. Long-Distance &amp; Night Driving</a:t>
            </a:r>
          </a:p>
          <a:p>
            <a:r>
              <a:rPr lang="en-US" dirty="0"/>
              <a:t>Particularly useful during situations where drivers are more likely to experience fatigue, such as long highway journeys or night driving.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62627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12ABE-7A34-53CE-FB91-8B222E2C7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095859" cy="83127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Reference </a:t>
            </a:r>
            <a:endParaRPr lang="en-ID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A5E0B8-EAB5-F8C2-35D0-0DC0B1100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35" y="1101436"/>
            <a:ext cx="11596255" cy="559030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400" b="1" dirty="0"/>
              <a:t>Soukupová, T., &amp; Čech, J. (2016). Real-Time Eye Blink Detection using Facial Landmarks.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400" b="1" dirty="0"/>
              <a:t>Ghoddousian, R., Rosenberg, M., &amp; others. A Robust Deep Learning-Based System for Driver Drowsiness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400" b="1" dirty="0"/>
              <a:t>UTA Real-Life Drowsiness Dataset (UTA-RLDD), University of Texas at Arlington.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400" b="1" dirty="0"/>
              <a:t>OpenCV — Computer Vision Library.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400" b="1" dirty="0" err="1"/>
              <a:t>PyTorch</a:t>
            </a:r>
            <a:r>
              <a:rPr lang="en-ID" sz="2400" b="1" dirty="0"/>
              <a:t> — Deep Learning Framework.</a:t>
            </a:r>
          </a:p>
        </p:txBody>
      </p:sp>
    </p:spTree>
    <p:extLst>
      <p:ext uri="{BB962C8B-B14F-4D97-AF65-F5344CB8AC3E}">
        <p14:creationId xmlns:p14="http://schemas.microsoft.com/office/powerpoint/2010/main" val="2292154309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95</TotalTime>
  <Words>524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Neue Haas Grotesk Text Pro</vt:lpstr>
      <vt:lpstr>Film Burn</vt:lpstr>
      <vt:lpstr>Deep Learning Based Driver Drowsiness &amp; Vigilance Detecting System</vt:lpstr>
      <vt:lpstr>Table Of Contents</vt:lpstr>
      <vt:lpstr>Introduction</vt:lpstr>
      <vt:lpstr>Problem statement </vt:lpstr>
      <vt:lpstr>OBJECTIVE</vt:lpstr>
      <vt:lpstr> Data Set </vt:lpstr>
      <vt:lpstr>Initial research direction</vt:lpstr>
      <vt:lpstr>Work done And EAR Calculation</vt:lpstr>
      <vt:lpstr>Observed EAR Behaviour </vt:lpstr>
      <vt:lpstr>Proposed Model  </vt:lpstr>
      <vt:lpstr>Application </vt:lpstr>
      <vt:lpstr>Reference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Sudhanshu Chaudhary</dc:creator>
  <cp:lastModifiedBy>Sudhanshu Chaudhary</cp:lastModifiedBy>
  <cp:revision>2</cp:revision>
  <dcterms:created xsi:type="dcterms:W3CDTF">2026-09-14T14:54:13Z</dcterms:created>
  <dcterms:modified xsi:type="dcterms:W3CDTF">2026-09-14T21:55:43Z</dcterms:modified>
</cp:coreProperties>
</file>